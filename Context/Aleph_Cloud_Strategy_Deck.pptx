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cgFglwdneUelOPcU69Bkfs8eL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B67EA8-18AB-4276-BFE5-1595367E487D}">
  <a:tblStyle styleId="{23B67EA8-18AB-4276-BFE5-1595367E48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914400"/>
            <a:ext cx="7772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Aleph Cloud </a:t>
            </a:r>
            <a:endParaRPr b="1" sz="4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Competitive Analysis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28346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 strategic narrowing of European cloud infrastructure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Aleph Cloud  ·  Competitive Strategy  ·  March 2026  ·  Confidential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EXECUTIVE 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0080" y="8229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Europe's cloud market is large but segmented by hard trade-offs.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1691640"/>
            <a:ext cx="274320" cy="2743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640080" y="16916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051560" y="1645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Concentration, not size, is the strategic fact.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51560" y="19659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Hyperscalers hold 70% of EU cloud. </a:t>
            </a:r>
            <a:r>
              <a:rPr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Remaining</a:t>
            </a:r>
            <a:r>
              <a:rPr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30%</a:t>
            </a: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is open — but not equally </a:t>
            </a:r>
            <a:r>
              <a:rPr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accessible </a:t>
            </a: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everywhere.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2468880"/>
            <a:ext cx="274320" cy="2743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40080" y="24688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51560" y="24231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segment owns a battlefield Aleph should not enter.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51560" y="2743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Hyperscalers own breadth and ecosystem gravity. Sovereign incumbents own certification-led procurement.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" y="3246120"/>
            <a:ext cx="274320" cy="2743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40080" y="3246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51560" y="3200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viable entry is developer-cloud switching.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51560" y="35204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Developer-led teams outgrowing cheap/simple cloud need an EU-native, production-ready upgrade path for AI and sensitive workloads.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4023360"/>
            <a:ext cx="274320" cy="2743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40080" y="40233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51560" y="3977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Developers are not the end market — they are the entry route.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51560" y="42976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Winning developer trust first is the only realistic path to reaching compliance-heavy customers later.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BROAD MARKET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Large market, concentrated value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0080" y="12344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Europe is large enough to matter — but concentration is the real strategic fact.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0080" y="1828800"/>
            <a:ext cx="24688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40080" y="1828800"/>
            <a:ext cx="24688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822960" y="196596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066FF"/>
                </a:solidFill>
                <a:latin typeface="Georgia"/>
                <a:ea typeface="Georgia"/>
                <a:cs typeface="Georgia"/>
                <a:sym typeface="Georgia"/>
              </a:rPr>
              <a:t>€75B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22960" y="260604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EU cloud infrastructure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services,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22960" y="3291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Synergy Research Group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383280" y="1828800"/>
            <a:ext cx="24688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383280" y="1828800"/>
            <a:ext cx="24688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566160" y="196596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066FF"/>
                </a:solidFill>
                <a:latin typeface="Georgia"/>
                <a:ea typeface="Georgia"/>
                <a:cs typeface="Georgia"/>
                <a:sym typeface="Georgia"/>
              </a:rPr>
              <a:t>€173B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566160" y="260604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Projected by 2033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at current growth rates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566160" y="3291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Market Data Forecast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126480" y="1828800"/>
            <a:ext cx="24688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126480" y="1828800"/>
            <a:ext cx="24688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309360" y="196596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066FF"/>
                </a:solidFill>
                <a:latin typeface="Georgia"/>
                <a:ea typeface="Georgia"/>
                <a:cs typeface="Georgia"/>
                <a:sym typeface="Georgia"/>
              </a:rPr>
              <a:t>70%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309360" y="260604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Held by 3 hyperscalers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 the EU 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309360" y="3291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Synergy Research Group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solidFill>
            <a:srgbClr val="EBF2FF"/>
          </a:solidFill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77240" y="3931920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Market size alone does not create a startup wedge. The question is where concentration breaks down — and for whom.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BROAD MARKET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Demand is still expanding — but unevenly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" name="Google Shape;78;p4"/>
          <p:cNvGraphicFramePr/>
          <p:nvPr/>
        </p:nvGraphicFramePr>
        <p:xfrm>
          <a:off x="64008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{23B67EA8-18AB-4276-BFE5-1595367E487D}</a:tableStyleId>
              </a:tblPr>
              <a:tblGrid>
                <a:gridCol w="1463050"/>
                <a:gridCol w="822950"/>
                <a:gridCol w="822950"/>
                <a:gridCol w="8229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Segment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Delta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enterprises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77.8%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84.7%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8C4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8C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+6.7%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 enterprises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59.1%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66.8%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8C4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8C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+7.7%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49.3%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8C4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8C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+5.3%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" name="Google Shape;79;p4"/>
          <p:cNvSpPr/>
          <p:nvPr/>
        </p:nvSpPr>
        <p:spPr>
          <a:xfrm>
            <a:off x="640080" y="12344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EU Enterprise Cloud Adoption — Eurostat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303520" y="14173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0066FF"/>
                </a:solidFill>
                <a:latin typeface="Georgia"/>
                <a:ea typeface="Georgia"/>
                <a:cs typeface="Georgia"/>
                <a:sym typeface="Georgia"/>
              </a:rPr>
              <a:t>47%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303520" y="21031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of EU enterprises remain off-cloud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303520" y="25146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Concentrated in Southern/Eastern Europe: Romania (24.9%), Greece (24.3%), Bulgaria (17.8%) cloud adoption.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40080" y="3429000"/>
            <a:ext cx="7863840" cy="502920"/>
          </a:xfrm>
          <a:prstGeom prst="rect">
            <a:avLst/>
          </a:prstGeom>
          <a:solidFill>
            <a:srgbClr val="EBF2FF"/>
          </a:solidFill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777240" y="342900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Growth is real but does not automatically create opportunity. What matters is which segments are in motion — and why.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40080" y="4526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Eurostat 2026; Synergy Research Group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BROAD MARKET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What buyers increasingly care about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40080" y="1371600"/>
            <a:ext cx="37947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40080" y="1371600"/>
            <a:ext cx="36576" cy="1508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77240" y="1444752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66FF"/>
                </a:solidFill>
                <a:latin typeface="Georgia"/>
                <a:ea typeface="Georgia"/>
                <a:cs typeface="Georgia"/>
                <a:sym typeface="Georgia"/>
              </a:rPr>
              <a:t>84%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280160" y="14447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COST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7724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Transparent, predictable cloud spend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77240" y="20574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Budget overruns avg 17%. 27% of infra spend wasted on unused resources. Egress fees create billing surprises.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77240" y="2560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Hidden costs erode trust and make planning impossible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709160" y="1371600"/>
            <a:ext cx="37947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709160" y="1371600"/>
            <a:ext cx="36576" cy="1508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846320" y="1444752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66FF"/>
                </a:solidFill>
                <a:latin typeface="Georgia"/>
                <a:ea typeface="Georgia"/>
                <a:cs typeface="Georgia"/>
                <a:sym typeface="Georgia"/>
              </a:rPr>
              <a:t>76%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349240" y="14447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SOVEREIGNTY &amp; RESIDENCY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84632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Data stays in EU jurisdiction under EU legal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846320" y="20574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GDPR, NIS2, DORA, AI Act create hard legal obligations. 76% of CISOs cite fragmented regs.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846320" y="25603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Non-compliance is not a preference — it is a legal 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0080" y="3063240"/>
            <a:ext cx="37947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40080" y="3063240"/>
            <a:ext cx="36576" cy="1508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77240" y="3136392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66FF"/>
                </a:solidFill>
                <a:latin typeface="Georgia"/>
                <a:ea typeface="Georgia"/>
                <a:cs typeface="Georgia"/>
                <a:sym typeface="Georgia"/>
              </a:rPr>
              <a:t>2.4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280160" y="31363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PORTABILITY &amp; LOCK-IN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77240" y="34747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Ability to move workloads between providers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77240" y="37490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Avg org uses 2.4 public clouds. EU Data Act eliminates switching charges by Jan 2027. K8s production adoption hit 82%.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77240" y="42519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Lock-in creates dependency that compounds over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709160" y="3063240"/>
            <a:ext cx="3794760" cy="1508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709160" y="3063240"/>
            <a:ext cx="36576" cy="15087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846320" y="3136392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066FF"/>
                </a:solidFill>
                <a:latin typeface="Georgia"/>
                <a:ea typeface="Georgia"/>
                <a:cs typeface="Georgia"/>
                <a:sym typeface="Georgia"/>
              </a:rPr>
              <a:t>85%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349240" y="31363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AI WORKLOAD 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846320" y="34747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Cost-effective GPU access and 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846320" y="37490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Inference = 2/3 of AI compute. 85% of orgs misestimate AI costs by &gt;10%. Cost per token is the new metric.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846320" y="42519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AI demand outpaces existing infra planning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40080" y="47091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Flexera 2025; WEF 2025; Gartner 2024; CNCF 2026; Deloitte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BROAD MARKET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Buyers care about operational trust, not headline SLAs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Critical cloud outages increased 18% in 2024, lasting 18.7% longer. Human error caused 68% of disruptions.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6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{23B67EA8-18AB-4276-BFE5-1595367E487D}</a:tableStyleId>
              </a:tblPr>
              <a:tblGrid>
                <a:gridCol w="1188725"/>
                <a:gridCol w="914400"/>
                <a:gridCol w="1005850"/>
                <a:gridCol w="1463050"/>
                <a:gridCol w="18288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Uptime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 Incidents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Worst Event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99.99%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~99.97%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 (1.5h avg)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15h DynamoDB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99.99%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~99.96%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(14.6h avg)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50h China; 111 DevOps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99.99%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~99.97%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 (+57% YoY)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7h global outage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OVHcloud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99.99%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~99.95%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17min backbone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Hetzner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~99.95%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compute SLA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DigitalOcean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99.99%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~99.99%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11/mo avg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Multi-region Nov '24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CoreWeave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≥99.9%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719+ tracked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DC delays Q3 '25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6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solidFill>
            <a:srgbClr val="EBF2FF"/>
          </a:solidFill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777240" y="4114800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Every provider experiences outages. Architectural decisions (multi-zone, multi-region) matter far more than any SLA number.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40080" y="47091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Parametrix Insurance 2024; Cherry Servers 2025; Uptime Institute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INDUSTRY 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This is not one market — it is five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40080" y="1371600"/>
            <a:ext cx="14630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640080" y="1371600"/>
            <a:ext cx="146304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731520" y="14630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Hyperscalers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31520" y="17373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AWS, Azure, GCP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31520" y="210312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BUYER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31520" y="22860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Large enterprise, default buyers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31520" y="2926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WINS 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31520" y="31089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Breadth, ecosystem, AI stacks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31520" y="37490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FAILS 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31520" y="39319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Pricing complexity, no sovereignty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286000" y="1371600"/>
            <a:ext cx="14630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2286000" y="1371600"/>
            <a:ext cx="146304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377440" y="14630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EU Sovereign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377440" y="17373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OVHcloud, Scaleway, IONOS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377440" y="210312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BUYER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377440" y="22860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Public sector, regulated industry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377440" y="2926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WINS 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377440" y="31089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Certification, local legal entity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377440" y="37490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FAILS 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377440" y="39319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Limited scale, weak DX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931920" y="1371600"/>
            <a:ext cx="14630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931920" y="1371600"/>
            <a:ext cx="146304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023360" y="14630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Developer Clouds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023360" y="17373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Hetzner, DigitalOcean, Vultr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023360" y="210312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BUYER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023360" y="22860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Dev-led startups &amp; SMBs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023360" y="2926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WINS 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023360" y="31089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Simplicity, transparency, low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023360" y="37490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FAILS 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023360" y="39319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 compliance path, limited scope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577840" y="1371600"/>
            <a:ext cx="14630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577840" y="1371600"/>
            <a:ext cx="146304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5669280" y="14630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GPU Neoclouds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669280" y="17373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CoreWeave, Lambda, Crusoe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669280" y="210312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BUYER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669280" y="22860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AI/ML teams, burst workloads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669280" y="2926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WINS 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669280" y="31089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Fast GPU access, specialized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669280" y="37490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FAILS 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669280" y="39319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High capex, unprofitable, no SLAs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223760" y="1371600"/>
            <a:ext cx="14630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7223760" y="1371600"/>
            <a:ext cx="146304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315200" y="14630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Web3 / DePIN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315200" y="17373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Akash, io.net, Phala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315200" y="210312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BUYER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315200" y="22860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Crypto-native, censorship-sensitive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7315200" y="2926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WINS 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315200" y="31089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Decentralized, TEE experiments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315200" y="37490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FAILS 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315200" y="393192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 EU compliance, limited trust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INDUSTRY 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The market is defined by forced trade-offs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 provider resolves all of these simultaneously. Each business model structurally privileges some axes over others.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40080" y="1737360"/>
            <a:ext cx="32918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777240" y="175564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Breadth &amp; ecosystem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77240" y="201168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Hyperscalers (200+ services)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977640" y="173736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⟷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480560" y="1737360"/>
            <a:ext cx="32918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4617720" y="175564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Simplicity &amp; transparency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617720" y="201168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Developer clouds (10–20 services)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77240" y="2240280"/>
            <a:ext cx="6949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More services = more complexity, more billing opacity, more lock-in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40080" y="2514600"/>
            <a:ext cx="32918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777240" y="25328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Compliance &amp; certification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77240" y="27889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EU sovereign clouds (cert-led GTM)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977640" y="25146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⟷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480560" y="2514600"/>
            <a:ext cx="32918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617720" y="25328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Developer experience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617720" y="27889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Developer clouds (UX-led GTM)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77240" y="3017520"/>
            <a:ext cx="6949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Compliance adds overhead that degrades velocity and onboarding friction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40080" y="3291840"/>
            <a:ext cx="32918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777240" y="33101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Cost clarity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777240" y="356616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Hetzner (flat pricing, limited scope)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977640" y="32918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⟷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480560" y="3291840"/>
            <a:ext cx="32918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617720" y="33101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Feature sprawl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617720" y="356616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AWS (opaque pricing, unlimited scope)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77240" y="3794760"/>
            <a:ext cx="6949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Transparent pricing requires a restrained service catalog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40080" y="4069080"/>
            <a:ext cx="32918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777240" y="40873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GPU specialization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77240" y="434340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Neoclouds (GPU-first, narrow)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977640" y="406908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⟷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480560" y="4069080"/>
            <a:ext cx="32918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617720" y="40873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General platform trust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617720" y="434340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Hyperscalers (broad, expensive GPU)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777240" y="4572000"/>
            <a:ext cx="6949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Specialization wins on performance but loses on enterprise breadth and SLAs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INDUSTRY 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Convergence is happening — but slowly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Each segment is improving, but each remains constrained by its native business model and buyer logic.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40080" y="1737360"/>
            <a:ext cx="7863840" cy="5212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777240" y="175564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AWS Sovereign Cloud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2468880" y="175564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EU-resident operations in Brandenburg. €7.8B through 2040.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120640" y="175564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Subsidiaries take 2–3 years to certify. Ecosystem gravity keeps pricing complex.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7772400" y="1755648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40080" y="2350008"/>
            <a:ext cx="7863840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777240" y="2368296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Azure (Delos / Bleu)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2468880" y="2368296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SAP + Capgemini/Orange JVs targeting SecNumCloud 3.2.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120640" y="2368296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JV complexity slows execution. O365 bundle strategy may not translate to sovereignty.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7772400" y="2368296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40080" y="2962656"/>
            <a:ext cx="7863840" cy="5212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777240" y="2980944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GCP (S3NS / Thales)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2468880" y="298094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Achieved SecNumCloud 3.2 (Dec 2025). T-Systems, Proximus partnerships.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120640" y="298094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Smaller EU footprint. "Killed by Google" trust deficit persists.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772400" y="2980944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40080" y="3575304"/>
            <a:ext cx="7863840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777240" y="3593592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OVHcloud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2468880" y="359359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Only current SecNumCloud 3.2 holder. €24M qualified ARR, 63% YoY.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120640" y="359359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€1.1B debt (2.7x leverage). Developer experience significantly lags.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772400" y="3593592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40080" y="4187952"/>
            <a:ext cx="7863840" cy="5212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777240" y="42062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Scaleway / Iliad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246888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€3B AI investment. ~5,000 top-tier GPUs planned.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12064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 SecNumCloud 3.2 yet. Still proving enterprise credibility.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772400" y="420624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777240" y="158191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PLAYER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2468880" y="1581912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120640" y="1581912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CONSTRAINT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7772400" y="15819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THREAT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ELIMINATE THE WRONG WEDGES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Why not compete head-on with hyperscalers?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40080" y="1463040"/>
            <a:ext cx="36576" cy="8686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868680" y="1463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You cannot out-feature them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868680" y="1783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AWS has 200+ services. Azure bundles O365. GCP leads on K8s and TPUs. Breadth is their structural advantage, built over decades with tens of billions in cumulative investment.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40080" y="2514600"/>
            <a:ext cx="36576" cy="8686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868680" y="25146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You cannot out-distribute them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868680" y="28346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Hyperscalers are the procurement default. Sales teams, partner ecosystems, and existing contracts create gravity that a startup cannot replicate. Large customers tolerate pain because switching cost exceeds switching benefit.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40080" y="3566160"/>
            <a:ext cx="36576" cy="8686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868680" y="35661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Price alone is insufficient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868680" y="3886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EU providers already run 40–55% cheaper for equivalent K8s deployments. Hetzner is 5× cheaper on compute. Yet hyperscaler share grows. Price matters, but it does not overcome ecosystem lock-in by itself.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640050" y="4491025"/>
            <a:ext cx="7863900" cy="457200"/>
          </a:xfrm>
          <a:prstGeom prst="rect">
            <a:avLst/>
          </a:prstGeom>
          <a:solidFill>
            <a:srgbClr val="EBF2FF"/>
          </a:solidFill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777210" y="4491025"/>
            <a:ext cx="758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The hyperscaler battlefield rewards scale, breadth, and distribution. Aleph has none of these. This is not the right fight.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ELIMINATE THE WRONG WEDGES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Why not open with certification?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Certification matters for expansion — but cert-first is a poor startup wedge.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1"/>
          <p:cNvGraphicFramePr/>
          <p:nvPr/>
        </p:nvGraphicFramePr>
        <p:xfrm>
          <a:off x="64008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{23B67EA8-18AB-4276-BFE5-1595367E487D}</a:tableStyleId>
              </a:tblPr>
              <a:tblGrid>
                <a:gridCol w="1371600"/>
                <a:gridCol w="1645925"/>
                <a:gridCol w="2194550"/>
                <a:gridCol w="2651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 Status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Procurement Credibility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Structural Advantage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OVHcloud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SecNumCloud 3.2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— €24M qualified ARR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Incumbent, EU legal entity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GCP / Thales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SecNumCloud 3.2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— Google brand + JV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Hyperscaler ecosystem + capital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 / Delos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progress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— SAP partnership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O365 bundle, enterprise channel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IONOS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BSI C5 ✓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— German public sector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Deutsche Telekom backing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Aleph Cloud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yet certified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 — no track record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44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 currently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2" name="Google Shape;302;p11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Certification is procurement-led. </a:t>
            </a: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Buyers in regulated sectors choose based on existing vendor relationships, track record, and institutional trust — not technical merit. Certification takes 18–36 months and structurally advantages players who already own customer relationships. A startup without revenue or reference customers cannot credibly lead with certification.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ELIMINATE THE WRONG WEDGES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Why not lead with confidential computing?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40080" y="1417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THE CASE FOR CC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40080" y="16916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  $9.3B market today → $173B by 2031 (62.7% CAGR)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40080" y="20116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  TEEs = 50.1% of market. BFSI = 46% of buyers.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40080" y="23317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  75% of IT leaders engaged, only 18% in production.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640080" y="26517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  NVIDIA embedding TEEs in H100/H200 — mainstreaming CC.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640080" y="29718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  Azure launched Confidential AI Inferencing as first-mover signal.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640080" y="32918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  Among 9 Web3 competitors: 0 have production-grade CC.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4846320" y="1417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WHY NOT LEAD WITH 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Not a buying trigger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846320" y="1920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Buyers start from workload pain, cost, or compliance — not from "I need TEEs."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846320" y="23774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Narrow initial audience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4846320" y="26060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Only BFSI and regulated healthcare actively seek CC today. Most teams don't know they need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846320" y="30632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Identity confusion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846320" y="3291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Leading with CC positions Aleph as a security vendor, not a cloud platform. This limits ICP breadth.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solidFill>
            <a:srgbClr val="EBF2FF"/>
          </a:solidFill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777240" y="4023360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Confidential computing is a genuine differentiator — but it is a reinforcement, not a standalone GTM identity. Build on it; don't lead with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40080" y="470916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Mordor Intelligence 2025; Gartner 2025; Fortanix 2025; Deloitte TMT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640080" y="91440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 which segment is actually contestable?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640080" y="182880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1005840" y="18288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Hyperscalers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3017520" y="1828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Cannot out-feature, out-bundle, or out-distribute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640080" y="224028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005840" y="22402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Cert-led sovereign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3017520" y="22402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Procurement-led, slow, credibility-heavy, incumbency-advantaged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40080" y="265176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850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4850A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1005840" y="26517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Confidential computing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3017520" y="2651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Differentiator, not a standalone entry identity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640080" y="306324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005840" y="30632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GPU neoclouds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017520" y="30632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Capital-intensive, narrow, unprofitable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640080" y="347472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005840" y="34747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Web3 / DePIN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3017520" y="3474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No EU compliance, limited enterprise trust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822960" y="393192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movable segment is developer-led teams approaching production complexity.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BUYER BEHAVIOR &amp; SWITCHING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Developers and enterprise buyers choose differently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640080" y="1371600"/>
            <a:ext cx="3794760" cy="3108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640080" y="1371600"/>
            <a:ext cx="379476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822960" y="1463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DEVELOPER-LED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822960" y="18288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737360" y="1828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They build and ship daily. Onboarding friction kills adoption.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822960" y="23317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Simplicity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1737360" y="23317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They feel platform complexity directly — every extra config is cognitive load.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22960" y="28346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Transparent pricing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1737360" y="2834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They manage budgets without procurement teams. Surprise bills break trust.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822960" y="33375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Docs &amp; APIs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1737360" y="3337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They evaluate infrastructure by reading docs, not attending demos.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822960" y="38404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Portability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1737360" y="38404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They resist lock-in instinctively. Standard tools (K8s, Terraform) are default.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4709160" y="1371600"/>
            <a:ext cx="3794760" cy="3108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4709160" y="1371600"/>
            <a:ext cx="3794760" cy="3657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ENTERPRISE PROCUREMENT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892040" y="18288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Risk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5989320" y="18288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Decision-makers optimize for defensibility. "Nobody got fired for buying AWS."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4892040" y="23317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5989320" y="23317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Multi-team orgs need access control, audit trails, compliance posture out of the box.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4892040" y="283464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Vendor continuity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5989320" y="28346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Procurement favors large, stable vendors with long track records and SLAs.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4892040" y="33375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Ecosystem breadth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5989320" y="33375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Enterprise teams expect managed DBs, monitoring, IAM — all in one platform.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892040" y="38404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Bundle economics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5989320" y="3840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Volume discounts, ELAs, and committed-use agreements drive decisions.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640080" y="46177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Aleph's early product must win on the left column. The right column is an expansion requirement, not an entry requirement.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BUYER BEHAVIOR &amp; SWITCHING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What developer-cloud customers actually value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They are not just buying "cheap cloud." They are buying clarity, velocity, and control.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640080" y="1691640"/>
            <a:ext cx="3794760" cy="1325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640080" y="1691640"/>
            <a:ext cx="36576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777240" y="17373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Clarity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777240" y="19659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Know exactly what you're paying, what you're getting, and what's happening.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777240" y="2240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Why: Small teams can't afford billing surprises. Engineers are also finance. Every unexpected cost erodes trust.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777240" y="2651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Hyperscaler billing complexity is the #1 complaint in Stack Overflow surveys.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709160" y="1691640"/>
            <a:ext cx="3794760" cy="1325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4709160" y="1691640"/>
            <a:ext cx="36576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4846320" y="17373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Velocity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846320" y="19659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Deploy in minutes, not days. No procurement cycles, no sales calls.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4846320" y="2240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Why: Developer time is the scarcest resource. Platforms that require meetings lose to platforms with good docs.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4846320" y="2651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Onboarding friction directly maps to time-to-revenue for startups.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640080" y="3200400"/>
            <a:ext cx="3794760" cy="1325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640080" y="3200400"/>
            <a:ext cx="36576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777240" y="32461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Control without sprawl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777240" y="34747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Enough services to run production, without 200+ services to navigate.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777240" y="37490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Why: Developers want managed K8s, storage, compute, and maybe GPUs. Not 15 database variants.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777240" y="4160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Feature sprawl creates cognitive overhead that small teams cannot absorb.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4709160" y="3200400"/>
            <a:ext cx="3794760" cy="1325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4709160" y="3200400"/>
            <a:ext cx="36576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4846320" y="32461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Portability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4846320" y="34747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Standard APIs, Terraform, K8s. No proprietary lock-in.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846320" y="37490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Why: Developers think in terms of future optionality. They avoid platforms that trap them.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4846320" y="4160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Lock-in is felt most acutely when growth forces a platform transition.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BUYER BEHAVIOR &amp; SWITCHING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Why satisfaction and market share can invert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USAGE (MARKET SHARE)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Follows incumbency, default status,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and existing procurement footprint.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640080" y="210312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1737360" y="2148840"/>
            <a:ext cx="2194560" cy="20116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4023360" y="210312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48%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640080" y="248716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Azure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1737360" y="2532888"/>
            <a:ext cx="1188720" cy="20116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3017520" y="2487168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26%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640080" y="2871216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GCP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1737360" y="2916936"/>
            <a:ext cx="1143000" cy="20116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2971800" y="2871216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640080" y="3255264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Hetzner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1737360" y="3300984"/>
            <a:ext cx="228600" cy="20116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2057400" y="3255264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~5%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640080" y="363931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DigitalOcean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1737360" y="3685032"/>
            <a:ext cx="182880" cy="20116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2011680" y="3639312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~4%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SATISFACTION (DEVELOPER LOVE)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4846320" y="1600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Follows usability, transparency,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and low-friction experience.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4846320" y="210312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Hetzner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6035040" y="2148840"/>
            <a:ext cx="2208276" cy="20116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8334756" y="210312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69%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4846320" y="2487168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6035040" y="2532888"/>
            <a:ext cx="2208276" cy="20116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8334756" y="2487168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69%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4846320" y="2871216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DigitalOcean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6035040" y="2916936"/>
            <a:ext cx="1856232" cy="20116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7982712" y="2871216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58%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4846320" y="3255264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6035040" y="3300984"/>
            <a:ext cx="1536192" cy="20116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7662672" y="3255264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48%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4846320" y="363931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Azure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6035040" y="3685032"/>
            <a:ext cx="832104" cy="20116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6"/>
          <p:cNvSpPr/>
          <p:nvPr/>
        </p:nvSpPr>
        <p:spPr>
          <a:xfrm>
            <a:off x="6958584" y="3639312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26%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solidFill>
            <a:srgbClr val="EBF2FF"/>
          </a:solidFill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777240" y="416052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Admiration does not automatically predict enterprise purchase. But it identifies where switching is behaviorally plausible — and where developer trust can be earned first.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Stack Overflow Developer Survey 2024 (65K+ respondents)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7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BUYER BEHAVIOR &amp; SWITCHING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640080" y="6858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What causes developer-cloud users to switch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640080" y="1143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Switching is event-driven, not preference-driven. These are the trigger moments.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640080" y="1645920"/>
            <a:ext cx="3794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777240" y="16916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First serious compliance 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777240" y="19202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 customer or regulator asks about data residency, and the current provider has no answer.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777240" y="22402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Governance crosses from "nice to have" to "blocking a deal"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4709160" y="1645920"/>
            <a:ext cx="3794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7"/>
          <p:cNvSpPr/>
          <p:nvPr/>
        </p:nvSpPr>
        <p:spPr>
          <a:xfrm>
            <a:off x="4846320" y="16916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AI / GPU workload appears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4846320" y="19202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 team needs GPU access for inference or training, and their developer cloud doesn't offer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4846320" y="224028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A separate GPU provider creates billing and ops fragmentation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640080" y="2697480"/>
            <a:ext cx="3794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7"/>
          <p:cNvSpPr/>
          <p:nvPr/>
        </p:nvSpPr>
        <p:spPr>
          <a:xfrm>
            <a:off x="777240" y="27432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Infra sprawl gets painful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777240" y="29718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3–5 providers (Vercel + Hetzner + S3 + Lambda + Supabase) becomes unmaintainable.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777240" y="329184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Consolidation pressure grows with team size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4709160" y="2697480"/>
            <a:ext cx="3794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4846320" y="27432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Production seriousness increases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4846320" y="29718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Need for proper K8s, Terraform, multi-zone — the current platform isn't production-grade.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4846320" y="329184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Dev cloud simplicity becomes a limitation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640080" y="3749040"/>
            <a:ext cx="3794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777240" y="37947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Finance scrutinizes 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777240" y="40233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CFO or budget owner asks for predictable, auditable cloud spend. Current billing is opaque.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777240" y="43434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Cost transparency becomes a requirement, not a preference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4709160" y="3749040"/>
            <a:ext cx="3794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4846320" y="37947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Customer compliance scrutiny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4846320" y="40233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Enterprise customer's security review asks where data lives and who controls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4846320" y="43434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Selling to regulated customers requires regulated infrastructure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8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BUYER BEHAVIOR &amp; SWITCHING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open market space is the transition layer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640080" y="1508760"/>
            <a:ext cx="2560320" cy="2286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8"/>
          <p:cNvSpPr/>
          <p:nvPr/>
        </p:nvSpPr>
        <p:spPr>
          <a:xfrm>
            <a:off x="777240" y="1600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9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D94FF"/>
                </a:solidFill>
                <a:latin typeface="Calibri"/>
                <a:ea typeface="Calibri"/>
                <a:cs typeface="Calibri"/>
                <a:sym typeface="Calibri"/>
              </a:rPr>
              <a:t>DEVELOPER CLOUDS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777240" y="18288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Hetzner · DigitalOcean · Vultr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777240" y="2194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✕  No compliance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777240" y="2514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✕  No GPU (or limited)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777240" y="2834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✕  No governance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777240" y="3154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✕  No enterprise trajectory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3520440" y="1508760"/>
            <a:ext cx="2286000" cy="2286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3657600" y="16002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3657600" y="19202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EU-native production path for developer-led teams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3657600" y="246888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Dev-grade 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3657600" y="272491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Production primitives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3657600" y="298094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EU residency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3657600" y="323697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AI / GPU access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3657600" y="349300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Compliance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6126480" y="1508760"/>
            <a:ext cx="2377440" cy="2286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6263640" y="16002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9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D94FF"/>
                </a:solidFill>
                <a:latin typeface="Calibri"/>
                <a:ea typeface="Calibri"/>
                <a:cs typeface="Calibri"/>
                <a:sym typeface="Calibri"/>
              </a:rPr>
              <a:t>SOVEREIGN CLOUDS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6263640" y="182880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OVHcloud · IONOS · Scaleway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6263640" y="21945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✕  Weak developer UX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6263640" y="25146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✕  Complex onboarding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6263640" y="28346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✕  Legacy platform feel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6263640" y="31546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✕  Slow feature iteration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This is not an arrogant claim that "only Aleph is here." It is an observation that the transition layer — between beloved dev cloud and buyable sovereign cloud — is structurally under-served.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9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DEFINE THE WEDGE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The first buyer Aleph should target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640080" y="1371600"/>
            <a:ext cx="457200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9"/>
          <p:cNvSpPr/>
          <p:nvPr/>
        </p:nvSpPr>
        <p:spPr>
          <a:xfrm>
            <a:off x="640080" y="1371600"/>
            <a:ext cx="457200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9"/>
          <p:cNvSpPr/>
          <p:nvPr/>
        </p:nvSpPr>
        <p:spPr>
          <a:xfrm>
            <a:off x="822960" y="14630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IDEAL CUSTOMER PROFILE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822960" y="17830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Developer-led startup or SMB team, currently on cheap/simple cloud or fragmented infra, now entering: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822960" y="22860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→  More serious production workloads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822960" y="26060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→  AI / GPU workloads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822960" y="29260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→  Residency or governance requirements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822960" y="32461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→  Vendor consolidation pressure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822960" y="356616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→  Customer compliance scrutiny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5486400" y="1371600"/>
            <a:ext cx="301752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9"/>
          <p:cNvSpPr/>
          <p:nvPr/>
        </p:nvSpPr>
        <p:spPr>
          <a:xfrm>
            <a:off x="5486400" y="1371600"/>
            <a:ext cx="3017520" cy="36576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9"/>
          <p:cNvSpPr/>
          <p:nvPr/>
        </p:nvSpPr>
        <p:spPr>
          <a:xfrm>
            <a:off x="5669280" y="146304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NOT THE FIRST BUYER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5669280" y="18288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✕  Public sector 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5669280" y="202996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Procurement-led, cert-gated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5669280" y="22860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✕  Large bank procurement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5669280" y="248716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Requires years of trust-building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5669280" y="27432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✕  Generic enterprise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5669280" y="294436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Needs breadth Aleph doesn't have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5669280" y="32004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✕  Pure cost arbitrage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5669280" y="340156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Race to bottom, no defensibility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5669280" y="36576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✕  Web3-only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5669280" y="385876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Too narrow, limits credibility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0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DEFINE THE WEDGE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The minimum integrated EU-native platform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Not a universal one-stop-shop. The platform that removes switching pain for this specific ICP.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640080" y="1691640"/>
            <a:ext cx="786384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0"/>
          <p:cNvSpPr/>
          <p:nvPr/>
        </p:nvSpPr>
        <p:spPr>
          <a:xfrm>
            <a:off x="640080" y="1691640"/>
            <a:ext cx="36576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0"/>
          <p:cNvSpPr/>
          <p:nvPr/>
        </p:nvSpPr>
        <p:spPr>
          <a:xfrm>
            <a:off x="822960" y="1691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Managed Compute / K8s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3474720" y="169164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Replace fragmented VMs with production-ready orchestration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7680960" y="169164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640080" y="2194560"/>
            <a:ext cx="7863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0"/>
          <p:cNvSpPr/>
          <p:nvPr/>
        </p:nvSpPr>
        <p:spPr>
          <a:xfrm>
            <a:off x="640080" y="2194560"/>
            <a:ext cx="36576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0"/>
          <p:cNvSpPr/>
          <p:nvPr/>
        </p:nvSpPr>
        <p:spPr>
          <a:xfrm>
            <a:off x="822960" y="2194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Object Storage (S3-compatible)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3474720" y="219456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Zero-egress, drop-in replacement for AWS S3 / Cloudflare R2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7680960" y="21945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640080" y="2697480"/>
            <a:ext cx="786384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0"/>
          <p:cNvSpPr/>
          <p:nvPr/>
        </p:nvSpPr>
        <p:spPr>
          <a:xfrm>
            <a:off x="640080" y="2697480"/>
            <a:ext cx="36576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0"/>
          <p:cNvSpPr/>
          <p:nvPr/>
        </p:nvSpPr>
        <p:spPr>
          <a:xfrm>
            <a:off x="822960" y="26974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GPU Instances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3474720" y="269748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H100/H200 on-demand — no separate neocloud account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7680960" y="269748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0"/>
          <p:cNvSpPr/>
          <p:nvPr/>
        </p:nvSpPr>
        <p:spPr>
          <a:xfrm>
            <a:off x="640080" y="3200400"/>
            <a:ext cx="36576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0"/>
          <p:cNvSpPr/>
          <p:nvPr/>
        </p:nvSpPr>
        <p:spPr>
          <a:xfrm>
            <a:off x="822960" y="32004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Standard APIs &amp; Terraform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3474720" y="3200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Portable by default. No proprietary lock-in.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7680960" y="320040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640080" y="3703320"/>
            <a:ext cx="786384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640080" y="3703320"/>
            <a:ext cx="36576" cy="4114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0"/>
          <p:cNvSpPr/>
          <p:nvPr/>
        </p:nvSpPr>
        <p:spPr>
          <a:xfrm>
            <a:off x="822960" y="37033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Confidential VMs (SEV-SNP)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3474720" y="37033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AMD TEE-backed isolation. Reinforcement, not identity.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7680960" y="370332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REINFORCE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0"/>
          <p:cNvSpPr/>
          <p:nvPr/>
        </p:nvSpPr>
        <p:spPr>
          <a:xfrm>
            <a:off x="640080" y="4206240"/>
            <a:ext cx="36576" cy="4114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822960" y="42062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One Bill / One Jurisdiction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3474720" y="420624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Single control plane, single EU legal entity, transparent pricing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7680960" y="420624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solidFill>
            <a:srgbClr val="EBF2FF"/>
          </a:solidFill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0"/>
          <p:cNvSpPr/>
          <p:nvPr/>
        </p:nvSpPr>
        <p:spPr>
          <a:xfrm>
            <a:off x="777240" y="425196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The goal is not feature parity with hyperscalers. It is the minimum viable integrated platform that makes switching rational.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1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DEFINE THE WEDGE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1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What Aleph must win 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6400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Aleph does not need to be best at everything. It needs to be best at the switching criteria.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640080" y="1645920"/>
            <a:ext cx="36576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1"/>
          <p:cNvSpPr/>
          <p:nvPr/>
        </p:nvSpPr>
        <p:spPr>
          <a:xfrm>
            <a:off x="822960" y="16459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Transparent pricing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3200400" y="164592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Switching starts with a cost comparison. If pricing is opaque, the conversation ends.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640080" y="2103120"/>
            <a:ext cx="36576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822960" y="21031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Strong developer experience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3200400" y="210312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 ICP evaluates by building. Docs, CLI, API quality determine first impression.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640080" y="2560320"/>
            <a:ext cx="36576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1"/>
          <p:cNvSpPr/>
          <p:nvPr/>
        </p:nvSpPr>
        <p:spPr>
          <a:xfrm>
            <a:off x="822960" y="25603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Low complexity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3200400" y="256032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10–20 essential services, not 200. Simplicity is the value proposition, not a limitation.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1"/>
          <p:cNvSpPr/>
          <p:nvPr/>
        </p:nvSpPr>
        <p:spPr>
          <a:xfrm>
            <a:off x="640080" y="3017520"/>
            <a:ext cx="36576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1"/>
          <p:cNvSpPr/>
          <p:nvPr/>
        </p:nvSpPr>
        <p:spPr>
          <a:xfrm>
            <a:off x="822960" y="30175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EU-native legal posture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1"/>
          <p:cNvSpPr/>
          <p:nvPr/>
        </p:nvSpPr>
        <p:spPr>
          <a:xfrm>
            <a:off x="3200400" y="301752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Data residency, EU legal entity, GDPR-ready. Table stakes for the compliance-adjacent ICP.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640080" y="3474720"/>
            <a:ext cx="36576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1"/>
          <p:cNvSpPr/>
          <p:nvPr/>
        </p:nvSpPr>
        <p:spPr>
          <a:xfrm>
            <a:off x="822960" y="34747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Production-ready primitives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3200400" y="347472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Managed K8s, multi-zone, monitoring. The ICP is leaving dev cloud because dev cloud isn't enough.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1"/>
          <p:cNvSpPr/>
          <p:nvPr/>
        </p:nvSpPr>
        <p:spPr>
          <a:xfrm>
            <a:off x="640080" y="3931920"/>
            <a:ext cx="36576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1"/>
          <p:cNvSpPr/>
          <p:nvPr/>
        </p:nvSpPr>
        <p:spPr>
          <a:xfrm>
            <a:off x="822960" y="39319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AI + sensitive workload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1"/>
          <p:cNvSpPr/>
          <p:nvPr/>
        </p:nvSpPr>
        <p:spPr>
          <a:xfrm>
            <a:off x="3200400" y="393192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GPU access + confidential VMs. Not the headline, but the reason switching is worth the effort.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640080" y="4389120"/>
            <a:ext cx="36576" cy="38404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1"/>
          <p:cNvSpPr/>
          <p:nvPr/>
        </p:nvSpPr>
        <p:spPr>
          <a:xfrm>
            <a:off x="822960" y="43891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Credible future compliance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1"/>
          <p:cNvSpPr/>
          <p:nvPr/>
        </p:nvSpPr>
        <p:spPr>
          <a:xfrm>
            <a:off x="3200400" y="4389120"/>
            <a:ext cx="5303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SecNumCloud / BSI C5 on the roadmap — not the pitch, but the reassurance.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2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DEFINE THE WEDGE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640080" y="6858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Concentric expansion path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822960" y="1188720"/>
            <a:ext cx="7498080" cy="3108960"/>
          </a:xfrm>
          <a:prstGeom prst="roundRect">
            <a:avLst>
              <a:gd fmla="val 4412" name="adj"/>
            </a:avLst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2"/>
          <p:cNvSpPr/>
          <p:nvPr/>
        </p:nvSpPr>
        <p:spPr>
          <a:xfrm>
            <a:off x="1737360" y="1554480"/>
            <a:ext cx="5669280" cy="2377440"/>
          </a:xfrm>
          <a:prstGeom prst="roundRect">
            <a:avLst>
              <a:gd fmla="val 5769" name="adj"/>
            </a:avLst>
          </a:prstGeom>
          <a:solidFill>
            <a:srgbClr val="E8E8E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2"/>
          <p:cNvSpPr/>
          <p:nvPr/>
        </p:nvSpPr>
        <p:spPr>
          <a:xfrm>
            <a:off x="2651760" y="1920240"/>
            <a:ext cx="3840480" cy="1645920"/>
          </a:xfrm>
          <a:prstGeom prst="roundRect">
            <a:avLst>
              <a:gd fmla="val 8333" name="adj"/>
            </a:avLst>
          </a:prstGeom>
          <a:solidFill>
            <a:srgbClr val="D0D8E8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2"/>
          <p:cNvSpPr/>
          <p:nvPr/>
        </p:nvSpPr>
        <p:spPr>
          <a:xfrm>
            <a:off x="3566160" y="2286000"/>
            <a:ext cx="2011680" cy="914400"/>
          </a:xfrm>
          <a:prstGeom prst="roundRect">
            <a:avLst>
              <a:gd fmla="val 15000" name="adj"/>
            </a:avLst>
          </a:prstGeom>
          <a:solidFill>
            <a:srgbClr val="0066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2"/>
          <p:cNvSpPr/>
          <p:nvPr/>
        </p:nvSpPr>
        <p:spPr>
          <a:xfrm>
            <a:off x="1005840" y="137160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RING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1005840" y="15544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Certification-enabled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enterprise &amp; public sector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1920240" y="182880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RING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2"/>
          <p:cNvSpPr/>
          <p:nvPr/>
        </p:nvSpPr>
        <p:spPr>
          <a:xfrm>
            <a:off x="1920240" y="20116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Compliance-forward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SMB &amp; mid-market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2"/>
          <p:cNvSpPr/>
          <p:nvPr/>
        </p:nvSpPr>
        <p:spPr>
          <a:xfrm>
            <a:off x="2834640" y="228600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RING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2"/>
          <p:cNvSpPr/>
          <p:nvPr/>
        </p:nvSpPr>
        <p:spPr>
          <a:xfrm>
            <a:off x="2834640" y="24688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Sensitive AI &amp;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production workloads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3657600" y="242316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RING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3657600" y="2606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Developer-cloud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switchers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Confidential computing begins as reinforcement (Ring 1–2) and becomes more strategic as Aleph moves outward.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3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3"/>
          <p:cNvSpPr/>
          <p:nvPr/>
        </p:nvSpPr>
        <p:spPr>
          <a:xfrm>
            <a:off x="640080" y="100584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Aleph should not present as 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sovereign hyperscaler alternative.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3"/>
          <p:cNvSpPr/>
          <p:nvPr/>
        </p:nvSpPr>
        <p:spPr>
          <a:xfrm>
            <a:off x="640080" y="201168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It should present as the EU-native upgrade path for developer-led teams entering production-grade, AI-sensitive, and compliance-aware infrastructure.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3"/>
          <p:cNvSpPr/>
          <p:nvPr/>
        </p:nvSpPr>
        <p:spPr>
          <a:xfrm>
            <a:off x="640080" y="3017520"/>
            <a:ext cx="7863840" cy="18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3"/>
          <p:cNvSpPr/>
          <p:nvPr/>
        </p:nvSpPr>
        <p:spPr>
          <a:xfrm>
            <a:off x="640080" y="329184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D94F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4D94FF"/>
                </a:solidFill>
                <a:latin typeface="Georgia"/>
                <a:ea typeface="Georgia"/>
                <a:cs typeface="Georgia"/>
                <a:sym typeface="Georgia"/>
              </a:rPr>
              <a:t>Developers are not the end market.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D94F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4D94FF"/>
                </a:solidFill>
                <a:latin typeface="Georgia"/>
                <a:ea typeface="Georgia"/>
                <a:cs typeface="Georgia"/>
                <a:sym typeface="Georgia"/>
              </a:rPr>
              <a:t>They are the only realistic entry route to reaching larger,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D94FF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4D94FF"/>
                </a:solidFill>
                <a:latin typeface="Georgia"/>
                <a:ea typeface="Georgia"/>
                <a:cs typeface="Georgia"/>
                <a:sym typeface="Georgia"/>
              </a:rPr>
              <a:t>more compliance-heavy customers later.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3"/>
          <p:cNvSpPr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Aleph Cloud  ·  Confidential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2026-03-20T16:02:55Z</dcterms:created>
  <dc:creator>Aleph Cloud</dc:creator>
</cp:coreProperties>
</file>